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rgbClr val="1A6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6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view</c:v>
                  </c:pt>
                  <c:pt idx="1">
                    <c:v>addtocart</c:v>
                  </c:pt>
                  <c:pt idx="2">
                    <c:v>transaction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2664312</c:v>
                </c:pt>
                <c:pt idx="1">
                  <c:v>69332</c:v>
                </c:pt>
                <c:pt idx="2">
                  <c:v>22457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A6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6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View</c:v>
                  </c:pt>
                  <c:pt idx="1">
                    <c:v>Add to Cart</c:v>
                  </c:pt>
                  <c:pt idx="2">
                    <c:v>Purchase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1407580</c:v>
                </c:pt>
                <c:pt idx="1">
                  <c:v>38722</c:v>
                </c:pt>
                <c:pt idx="2">
                  <c:v>11719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 Users</c:v>
                </c:pt>
              </c:strCache>
            </c:strRef>
          </c:tx>
          <c:spPr>
            <a:solidFill>
              <a:srgbClr val="1A6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Item 461686</c:v>
                  </c:pt>
                  <c:pt idx="1">
                    <c:v>Item 119736</c:v>
                  </c:pt>
                  <c:pt idx="2">
                    <c:v>Item 213834</c:v>
                  </c:pt>
                  <c:pt idx="3">
                    <c:v>Item 312728</c:v>
                  </c:pt>
                  <c:pt idx="4">
                    <c:v>Item 144171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7406</c:v>
                </c:pt>
                <c:pt idx="1">
                  <c:v>6975</c:v>
                </c:pt>
                <c:pt idx="2">
                  <c:v>6851</c:v>
                </c:pt>
                <c:pt idx="3">
                  <c:v>5682</c:v>
                </c:pt>
                <c:pt idx="4">
                  <c:v>5201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Views</c:v>
                </c:pt>
              </c:strCache>
            </c:strRef>
          </c:tx>
          <c:spPr>
            <a:solidFill>
              <a:srgbClr val="1A6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6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Views</c:v>
                  </c:pt>
                  <c:pt idx="1">
                    <c:v>Carts</c:v>
                  </c:pt>
                  <c:pt idx="2">
                    <c:v>Purchases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2664312</c:v>
                </c:pt>
                <c:pt idx="1">
                  <c:v>69332</c:v>
                </c:pt>
                <c:pt idx="2">
                  <c:v>22457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32D54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560320" cy="2560320"/>
          </a:xfrm>
          <a:prstGeom prst="ellipse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3291840"/>
            <a:ext cx="1371600" cy="1371600"/>
          </a:xfrm>
          <a:prstGeom prst="ellipse">
            <a:avLst/>
          </a:prstGeom>
          <a:solidFill>
            <a:srgbClr val="1A6FD4">
              <a:alpha val="30000"/>
            </a:srgbClr>
          </a:solidFill>
          <a:ln w="6350">
            <a:solidFill>
              <a:srgbClr val="1A6F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777240"/>
            <a:ext cx="2240280" cy="292608"/>
          </a:xfrm>
          <a:prstGeom prst="rect">
            <a:avLst>
              <a:gd name="adj" fmla="val 12500"/>
            </a:avLst>
          </a:prstGeom>
          <a:solidFill>
            <a:srgbClr val="1A6FD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E-COMMERCE  ·  SQL  ·  POWER BI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Funnel &amp;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Analysis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investigation into the e-commerce customer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— from first browse to final purchase.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1371600" cy="27432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611880"/>
            <a:ext cx="1298448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611880"/>
            <a:ext cx="1298448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67588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" y="416966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Total Visitors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09928" y="3611880"/>
            <a:ext cx="1298448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9928" y="3611880"/>
            <a:ext cx="1298448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709928" y="367588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09928" y="416966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Cart Users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99816" y="3611880"/>
            <a:ext cx="1298448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99816" y="3611880"/>
            <a:ext cx="129844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3099816" y="367588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099816" y="416966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Buyers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89704" y="3611880"/>
            <a:ext cx="1298448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9704" y="3611880"/>
            <a:ext cx="129844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489704" y="367588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489704" y="416966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Conv. Rate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822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80760" y="1234440"/>
            <a:ext cx="2816352" cy="59436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99632" y="128930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99632" y="1508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2.76M records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1938528"/>
            <a:ext cx="2816352" cy="59436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199632" y="19933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99632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Cart / Buy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0760" y="2642616"/>
            <a:ext cx="2816352" cy="59436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99632" y="2697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99632" y="2916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3346704"/>
            <a:ext cx="2816352" cy="59436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199632" y="34015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99632" y="3621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80760" y="4050792"/>
            <a:ext cx="2816352" cy="59436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199632" y="41056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99632" y="4325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235,061 products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About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analysis of user behavior from browsing to purchase using raw SQL queries and Power BI visualisation.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2798064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44752"/>
            <a:ext cx="2798064" cy="54864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1572768"/>
            <a:ext cx="749808" cy="749808"/>
          </a:xfrm>
          <a:prstGeom prst="ellipse">
            <a:avLst/>
          </a:prstGeom>
          <a:solidFill>
            <a:srgbClr val="1A6FD4">
              <a:alpha val="12000"/>
            </a:srgbClr>
          </a:solidFill>
          <a:ln w="6350">
            <a:solidFill>
              <a:srgbClr val="1A6FD4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157276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0624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78992" y="2852928"/>
            <a:ext cx="115214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9443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2.76 million event records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event types: View, Add to Cart, Transaction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3803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visitorid · itemid · event · transactionid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4233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Source: Retail Rocket / Kaggle dataset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444752"/>
            <a:ext cx="2798064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444752"/>
            <a:ext cx="2798064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4206240" y="1572768"/>
            <a:ext cx="749808" cy="749808"/>
          </a:xfrm>
          <a:prstGeom prst="ellipse">
            <a:avLst/>
          </a:prstGeom>
          <a:solidFill>
            <a:srgbClr val="0EA5E9">
              <a:alpha val="12000"/>
            </a:srgbClr>
          </a:solidFill>
          <a:ln w="635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57276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64992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23360" y="2852928"/>
            <a:ext cx="115214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9443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Map the full View → Cart → Purchase funnel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Quantify drop-off at each funnel stage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803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Identify products with low conversion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4233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Surface actionable business recommendations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44768" y="1444752"/>
            <a:ext cx="2798064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4768" y="1444752"/>
            <a:ext cx="279806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Shape 27"/>
          <p:cNvSpPr/>
          <p:nvPr/>
        </p:nvSpPr>
        <p:spPr>
          <a:xfrm>
            <a:off x="7150608" y="1572768"/>
            <a:ext cx="749808" cy="749808"/>
          </a:xfrm>
          <a:prstGeom prst="ellipse">
            <a:avLst/>
          </a:prstGeom>
          <a:solidFill>
            <a:srgbClr val="059669">
              <a:alpha val="12000"/>
            </a:srgbClr>
          </a:solidFill>
          <a:ln w="635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57276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09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67728" y="2852928"/>
            <a:ext cx="115214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327648" y="29443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SQL Server for all data exploration &amp; queries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27648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CTEs &amp; window functions for funnel logic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7648" y="3803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Power BI interactive dashboard with slicers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27648" y="4233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NULL analysis, duplicate check, event split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Raw Dataset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SQL queries reveal the shape, quality, and distribution of 2.76M event records.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0848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17320"/>
            <a:ext cx="2084832" cy="4572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5087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2,756,101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7472" y="201168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417320"/>
            <a:ext cx="20848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417320"/>
            <a:ext cx="208483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5087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1,407,580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Visitors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560320"/>
            <a:ext cx="20848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560320"/>
            <a:ext cx="2084832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6517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235,061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47472" y="315468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2560320"/>
            <a:ext cx="2084832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2560320"/>
            <a:ext cx="2084832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26517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NULL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560320" y="315468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 Nulls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3730752"/>
            <a:ext cx="4315968" cy="11430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730752"/>
            <a:ext cx="431596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794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Quality Note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407822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of transactionid values are NULL — only actual purchases populate this field. This is expected by design: non-purchase events carry no transaction reference.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73168" y="1417320"/>
            <a:ext cx="4133088" cy="3456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9472" y="1517904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Distribution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1810512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 count by type</a:t>
            </a:r>
            <a:endParaRPr lang="en-US" sz="9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846320" y="2084832"/>
          <a:ext cx="39776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Funnel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→  Add to Cart  →  Purchase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594360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810512"/>
            <a:ext cx="5943600" cy="475488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828800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1,407,580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10528" y="1856232"/>
            <a:ext cx="868680" cy="347472"/>
          </a:xfrm>
          <a:prstGeom prst="rect">
            <a:avLst>
              <a:gd name="adj" fmla="val 10526"/>
            </a:avLst>
          </a:prstGeom>
          <a:solidFill>
            <a:srgbClr val="1A6FD4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18562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D4"/>
                </a:solidFill>
              </a:rPr>
              <a:t>100%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810512"/>
            <a:ext cx="27432" cy="9875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662672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97.25% dropped here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816352"/>
            <a:ext cx="594360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2816352"/>
            <a:ext cx="1295705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2834640"/>
            <a:ext cx="111282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38,722 users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10528" y="2862072"/>
            <a:ext cx="868680" cy="347472"/>
          </a:xfrm>
          <a:prstGeom prst="rect">
            <a:avLst>
              <a:gd name="adj" fmla="val 10526"/>
            </a:avLst>
          </a:prstGeom>
          <a:solidFill>
            <a:srgbClr val="D9770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28620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2.75%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2816352"/>
            <a:ext cx="27432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662672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69.74% dropped here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822192"/>
            <a:ext cx="594360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822192"/>
            <a:ext cx="487375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990295" y="38404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11,719 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10528" y="3867912"/>
            <a:ext cx="868680" cy="347472"/>
          </a:xfrm>
          <a:prstGeom prst="rect">
            <a:avLst>
              <a:gd name="adj" fmla="val 10526"/>
            </a:avLst>
          </a:prstGeom>
          <a:solidFill>
            <a:srgbClr val="059669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10528" y="38679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0.83%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462272"/>
            <a:ext cx="2011680" cy="566928"/>
          </a:xfrm>
          <a:prstGeom prst="rect">
            <a:avLst/>
          </a:prstGeom>
          <a:solidFill>
            <a:srgbClr val="1E3A5F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462272"/>
            <a:ext cx="20116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4498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97.25%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7320" y="451713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Cart Drop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87752" y="4462272"/>
            <a:ext cx="2011680" cy="566928"/>
          </a:xfrm>
          <a:prstGeom prst="rect">
            <a:avLst/>
          </a:prstGeom>
          <a:solidFill>
            <a:srgbClr val="1E3A5F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87752" y="4462272"/>
            <a:ext cx="201168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2660904" y="4498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69.74%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593592" y="451713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Buy Drop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64024" y="4462272"/>
            <a:ext cx="2011680" cy="566928"/>
          </a:xfrm>
          <a:prstGeom prst="rect">
            <a:avLst/>
          </a:prstGeom>
          <a:solidFill>
            <a:srgbClr val="1E3A5F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64024" y="4462272"/>
            <a:ext cx="201168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4837176" y="4498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769864" y="451713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Conv.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0296" y="4462272"/>
            <a:ext cx="2011680" cy="566928"/>
          </a:xfrm>
          <a:prstGeom prst="rect">
            <a:avLst/>
          </a:prstGeom>
          <a:solidFill>
            <a:srgbClr val="1E3A5F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4462272"/>
            <a:ext cx="20116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3" name="Text 41"/>
          <p:cNvSpPr/>
          <p:nvPr/>
        </p:nvSpPr>
        <p:spPr>
          <a:xfrm>
            <a:off x="7013448" y="4498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3.3×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946136" y="451713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Users Exit the Funnel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critical choke points determine why 99.17% of visitors never complete a purchase.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429768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17320"/>
            <a:ext cx="42976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" y="1572768"/>
            <a:ext cx="1078992" cy="80467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572768"/>
            <a:ext cx="10789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Add to Cart Drop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Poor CTA visibility on product pages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08760" y="2212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Pricing mismatch vs. user expectations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08760" y="25054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Weak product descriptions / imagery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08760" y="2798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urgency or trust signals shown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264408"/>
            <a:ext cx="429768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264408"/>
            <a:ext cx="4297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" y="3419856"/>
            <a:ext cx="1078992" cy="8046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419856"/>
            <a:ext cx="10789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69.74%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→ Purchase Drop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Unexpected shipping or tax costs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08760" y="4059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Forced account creation friction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08760" y="43525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Limited payment method options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08760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Trust/security concerns at checkout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36592" y="1417320"/>
            <a:ext cx="41605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82896" y="15179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Stage Comparison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82896" y="1792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remaining at each stage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791456" y="205740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Views, Low Conversions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products attract significant traffic but fail to convert — signalling a product-page problem, not a reach problem.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425196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2336" y="15179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Views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7922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visitors who viewed each item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2057400"/>
          <a:ext cx="4160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417320"/>
            <a:ext cx="41605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01184" y="15179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vs. Cart Add Rate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01184" y="1792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platform aggregate — massive gap between reach and action</a:t>
            </a:r>
            <a:endParaRPr lang="en-US" sz="9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791456" y="205740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Interact with the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1.4M visitors reveals four distinct behavior profiles with very different commercial value.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4251960" cy="768096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17320"/>
            <a:ext cx="54864" cy="768096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7218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8196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Viewed products, never added to cart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0" y="14904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~1.35M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18745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96.3% of total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304288"/>
            <a:ext cx="4251960" cy="768096"/>
          </a:xfrm>
          <a:prstGeom prst="rect">
            <a:avLst/>
          </a:prstGeom>
          <a:solidFill>
            <a:srgbClr val="FFFBEB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304288"/>
            <a:ext cx="54864" cy="7680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591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27066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cart but never purchased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23774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~26.4K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08960" y="27614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1.88% of total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191256"/>
            <a:ext cx="4251960" cy="768096"/>
          </a:xfrm>
          <a:prstGeom prst="rect">
            <a:avLst/>
          </a:prstGeom>
          <a:solidFill>
            <a:srgbClr val="ECFDF5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191256"/>
            <a:ext cx="54864" cy="7680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2461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3593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at least one transaction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0" y="3264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~11.7K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08960" y="364845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0.83% of total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4078224"/>
            <a:ext cx="4251960" cy="768096"/>
          </a:xfrm>
          <a:prstGeom prst="rect">
            <a:avLst/>
          </a:prstGeom>
          <a:solidFill>
            <a:srgbClr val="F0F9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078224"/>
            <a:ext cx="54864" cy="76809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13308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Buyers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" y="4480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transactions on record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08960" y="415137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~1.4K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108960" y="453542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~0.1% of total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1417320"/>
            <a:ext cx="196596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417320"/>
            <a:ext cx="1965960" cy="4572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864608" y="1545336"/>
            <a:ext cx="475488" cy="475488"/>
          </a:xfrm>
          <a:prstGeom prst="ellipse">
            <a:avLst/>
          </a:prstGeom>
          <a:solidFill>
            <a:srgbClr val="1A6FD4">
              <a:alpha val="15000"/>
            </a:srgbClr>
          </a:solidFill>
          <a:ln w="6350">
            <a:solidFill>
              <a:srgbClr val="1A6FD4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545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64608" y="2093976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Browsing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2386584"/>
            <a:ext cx="17556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return to same products without acting — signals price sensitivity or comparison shopping behavior.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58000" y="1417320"/>
            <a:ext cx="196596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58000" y="1417320"/>
            <a:ext cx="19659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Shape 37"/>
          <p:cNvSpPr/>
          <p:nvPr/>
        </p:nvSpPr>
        <p:spPr>
          <a:xfrm>
            <a:off x="6967728" y="1545336"/>
            <a:ext cx="475488" cy="475488"/>
          </a:xfrm>
          <a:prstGeom prst="ellipse">
            <a:avLst/>
          </a:prstGeom>
          <a:solidFill>
            <a:srgbClr val="D97706">
              <a:alpha val="15000"/>
            </a:srgbClr>
          </a:solidFill>
          <a:ln w="635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1545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67728" y="2093976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as Wishlist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67728" y="2386584"/>
            <a:ext cx="17556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pattern mirrors 'save for later' usage, especially prevalent in mobile sessions.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246120"/>
            <a:ext cx="196596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246120"/>
            <a:ext cx="196596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Shape 43"/>
          <p:cNvSpPr/>
          <p:nvPr/>
        </p:nvSpPr>
        <p:spPr>
          <a:xfrm>
            <a:off x="4864608" y="3374136"/>
            <a:ext cx="475488" cy="475488"/>
          </a:xfrm>
          <a:prstGeom prst="ellipse">
            <a:avLst/>
          </a:prstGeom>
          <a:solidFill>
            <a:srgbClr val="DC2626">
              <a:alpha val="15000"/>
            </a:srgbClr>
          </a:solidFill>
          <a:ln w="6350">
            <a:solidFill>
              <a:srgbClr val="DC2626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3741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864608" y="3922776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Session Depth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64608" y="4215384"/>
            <a:ext cx="17556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have very few actions per session — single-item views with no further exploration.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58000" y="3246120"/>
            <a:ext cx="196596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58000" y="3246120"/>
            <a:ext cx="196596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1" name="Shape 49"/>
          <p:cNvSpPr/>
          <p:nvPr/>
        </p:nvSpPr>
        <p:spPr>
          <a:xfrm>
            <a:off x="6967728" y="3374136"/>
            <a:ext cx="475488" cy="475488"/>
          </a:xfrm>
          <a:prstGeom prst="ellipse">
            <a:avLst/>
          </a:prstGeom>
          <a:solidFill>
            <a:srgbClr val="0EA5E9">
              <a:alpha val="15000"/>
            </a:srgbClr>
          </a:solidFill>
          <a:ln w="635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67728" y="33741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67728" y="3922776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Events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967728" y="4215384"/>
            <a:ext cx="17556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visitor–item–event combinations recur, likely page refreshes or multi-tab browsing sessions.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data-backed insights that define the current state of conversion and identify the highest-leverage opportunities.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788920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17320"/>
            <a:ext cx="2788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" y="1545336"/>
            <a:ext cx="475488" cy="475488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155448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Top-Funnel Drop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" y="2112264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" y="2185416"/>
            <a:ext cx="2542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97.25% of viewers never add to cart — the single biggest opportunity. Closing even 1% of that gap doubles cart volume.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1417320"/>
            <a:ext cx="2788920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417320"/>
            <a:ext cx="2788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9272" y="1545336"/>
            <a:ext cx="475488" cy="475488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19272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95344" y="155448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Cart Abandonment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9272" y="2112264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2185416"/>
            <a:ext cx="2542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69.74% of cart users don't buy. Industry average is ~70%, but targeted recovery flows can recapture 5–10K additional buyers.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1417320"/>
            <a:ext cx="2788920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08192" y="1417320"/>
            <a:ext cx="2788920" cy="54864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245352" y="1545336"/>
            <a:ext cx="475488" cy="475488"/>
          </a:xfrm>
          <a:prstGeom prst="rect">
            <a:avLst/>
          </a:prstGeom>
          <a:solidFill>
            <a:srgbClr val="1A6FD4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45352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1424" y="155448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Sub-1% Overall Conversion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45352" y="2112264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2185416"/>
            <a:ext cx="2542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0.83% end-to-end rate is below the 2–3% e-commerce benchmark. Every funnel stage optimised has a compounding effect.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200400"/>
            <a:ext cx="2788920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200400"/>
            <a:ext cx="2788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393192" y="3328416"/>
            <a:ext cx="475488" cy="475488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" y="33375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≠ Intent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" y="3895344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3968496"/>
            <a:ext cx="2542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 views but only 69K carts. Most traffic is passive. Product pages fail to convert curiosity into desire.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82112" y="3200400"/>
            <a:ext cx="2788920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82112" y="3200400"/>
            <a:ext cx="27889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Shape 35"/>
          <p:cNvSpPr/>
          <p:nvPr/>
        </p:nvSpPr>
        <p:spPr>
          <a:xfrm>
            <a:off x="3319272" y="3328416"/>
            <a:ext cx="475488" cy="475488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319272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895344" y="33375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Null-Heavy Transaction Data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19272" y="3895344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3319272" y="3968496"/>
            <a:ext cx="2542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NULL transactionids limits revenue analysis. Joining with an orders table is critical for full attribution.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08192" y="3200400"/>
            <a:ext cx="2788920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08192" y="3200400"/>
            <a:ext cx="27889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Shape 42"/>
          <p:cNvSpPr/>
          <p:nvPr/>
        </p:nvSpPr>
        <p:spPr>
          <a:xfrm>
            <a:off x="6245352" y="3328416"/>
            <a:ext cx="475488" cy="475488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245352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21424" y="33375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Buyer Segment = High Value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45352" y="3895344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6245352" y="3968496"/>
            <a:ext cx="254203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11.7K buyers in the dataset. These users are the core revenue base — retention is far cheaper than acquisition.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to Drive Growth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impact and implementation effort — from immediate wins to long-term infrastructure.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7889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17320"/>
            <a:ext cx="2788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1545336"/>
            <a:ext cx="548640" cy="219456"/>
          </a:xfrm>
          <a:prstGeom prst="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5453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3192" y="15270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Fix the View-to-Cart Gap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" y="1965960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205740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A/B test CTA placement and size on product pages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386584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Add urgency signals: stock count, time-limited offers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715768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Upgrade product photography and description quality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82112" y="1417320"/>
            <a:ext cx="27889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417320"/>
            <a:ext cx="2788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3520" y="1545336"/>
            <a:ext cx="548640" cy="219456"/>
          </a:xfrm>
          <a:prstGeom prst="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5453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19272" y="15270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Reduce Cart Abandonment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9272" y="1965960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3346704" y="205740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Implement abandoned cart email sequence (1h, 24h, 72h)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46704" y="2386584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Streamline checkout to a single page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46704" y="2715768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Offer guest checkout — no forced registration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08192" y="1417320"/>
            <a:ext cx="27889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08192" y="1417320"/>
            <a:ext cx="2788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1545336"/>
            <a:ext cx="548640" cy="219456"/>
          </a:xfrm>
          <a:prstGeom prst="rect">
            <a:avLst>
              <a:gd name="adj" fmla="val 12500"/>
            </a:avLst>
          </a:prstGeom>
          <a:solidFill>
            <a:srgbClr val="D97706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15453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45352" y="15270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Optimise Underperforming Products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45352" y="1965960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205740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 high-view, low-cart items for pricing issues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72784" y="2386584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Rewrite descriptions for top-traffic, zero-cart items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72784" y="2715768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Test bundle offers and volume discounts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227832"/>
            <a:ext cx="27889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227832"/>
            <a:ext cx="2788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0" y="3355848"/>
            <a:ext cx="548640" cy="219456"/>
          </a:xfrm>
          <a:prstGeom prst="rect">
            <a:avLst>
              <a:gd name="adj" fmla="val 12500"/>
            </a:avLst>
          </a:prstGeom>
          <a:solidFill>
            <a:srgbClr val="D97706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377440" y="3355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93192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Retargeting &amp; Personalisation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93192" y="3776472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" y="3867912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Retarget cart abandoners with item-specific ads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0624" y="4197096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 browse history for 'Recommended for you' modules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0624" y="452628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Send 'still interested?' emails to idle cart holders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82112" y="3227832"/>
            <a:ext cx="27889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182112" y="3227832"/>
            <a:ext cx="2788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5" name="Shape 43"/>
          <p:cNvSpPr/>
          <p:nvPr/>
        </p:nvSpPr>
        <p:spPr>
          <a:xfrm>
            <a:off x="5303520" y="3355848"/>
            <a:ext cx="548640" cy="219456"/>
          </a:xfrm>
          <a:prstGeom prst="rect">
            <a:avLst>
              <a:gd name="adj" fmla="val 12500"/>
            </a:avLst>
          </a:prstGeom>
          <a:solidFill>
            <a:srgbClr val="0EA5E9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0" y="3355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319272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Enrich Analytics Infrastructure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19272" y="3776472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3346704" y="3867912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Join events to order/CRM data for revenue attribution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46704" y="4197096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Track dwell time and scroll depth on product pages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46704" y="452628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Set up real-time funnel alerts for conversion drops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08192" y="3227832"/>
            <a:ext cx="278892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08192" y="3227832"/>
            <a:ext cx="2788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4" name="Shape 52"/>
          <p:cNvSpPr/>
          <p:nvPr/>
        </p:nvSpPr>
        <p:spPr>
          <a:xfrm>
            <a:off x="8229600" y="3355848"/>
            <a:ext cx="548640" cy="219456"/>
          </a:xfrm>
          <a:prstGeom prst="rect">
            <a:avLst>
              <a:gd name="adj" fmla="val 12500"/>
            </a:avLst>
          </a:prstGeom>
          <a:solidFill>
            <a:srgbClr val="0EA5E9">
              <a:alpha val="8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0" y="3355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245352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Loyalty &amp; Buyer Retention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45352" y="3776472"/>
            <a:ext cx="254203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6272784" y="3867912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Launch VIP programme for existing 11.7K buyers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272784" y="4197096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Create post-purchase upsell and cross-sell flows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72784" y="452628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Introduce repeat-purchase discount tiers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949440" y="-731520"/>
            <a:ext cx="3474720" cy="3474720"/>
          </a:xfrm>
          <a:prstGeom prst="ellipse">
            <a:avLst/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474720"/>
            <a:ext cx="2286000" cy="2286000"/>
          </a:xfrm>
          <a:prstGeom prst="ellipse">
            <a:avLst/>
          </a:prstGeom>
          <a:solidFill>
            <a:srgbClr val="1A6FD4">
              <a:alpha val="12000"/>
            </a:srgbClr>
          </a:solidFill>
          <a:ln w="12700">
            <a:solidFill>
              <a:srgbClr val="1A6FD4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Next Steps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reveals a platform with strong top-of-funnel reach but a critically leaky conversion path. The data is clear: traffic is not the problem — conversion is.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View-to-Cart gap and cart abandonment alone could realistically 3–5× current buyer volume without increasing marketing spend.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291840"/>
            <a:ext cx="1444752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291840"/>
            <a:ext cx="14447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35584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378561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Visitors Analysed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4248" y="3291840"/>
            <a:ext cx="1444752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4248" y="3291840"/>
            <a:ext cx="1444752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1984248" y="335584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84248" y="378561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Conversion Rate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57016" y="3291840"/>
            <a:ext cx="1444752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7016" y="3291840"/>
            <a:ext cx="1444752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335584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57016" y="378561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Key Recommendations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0" y="685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0" y="1115568"/>
            <a:ext cx="3383280" cy="18288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128016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70448" y="1289304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top 100 high-view, low-cart product pages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18836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70448" y="1892808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cart abandonment email automation (30 days)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2487168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70448" y="249631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simplified 1-page guest checkout flow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70448" y="3099816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real-time Power BI funnel drop alerts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3694176"/>
            <a:ext cx="292608" cy="29260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70448" y="370332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 programme for existing 11.7K buyers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0" y="4297680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70448" y="4306824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events table to order data for full revenue BI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E-Commerce Funnel &amp; Conversion Analysis  ·  SQL Server + Power BI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Funnel &amp; Conversion Analysis</dc:title>
  <dc:subject>PptxGenJS Presentation</dc:subject>
  <dc:creator>PptxGenJS</dc:creator>
  <cp:lastModifiedBy>PptxGenJS</cp:lastModifiedBy>
  <cp:revision>1</cp:revision>
  <dcterms:created xsi:type="dcterms:W3CDTF">2026-03-19T14:57:35Z</dcterms:created>
  <dcterms:modified xsi:type="dcterms:W3CDTF">2026-03-19T14:57:35Z</dcterms:modified>
</cp:coreProperties>
</file>